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46304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7324D"/>
                </a:solidFill>
              </a:rPr>
              <a:t>Category Intelligence</a:t>
            </a:r>
          </a:p>
          <a:p>
            <a:r>
              <a:rPr sz="2900">
                <a:solidFill>
                  <a:srgbClr val="E91E63"/>
                </a:solidFill>
              </a:rPr>
              <a:t>Retail Product Performance EDA</a:t>
            </a:r>
          </a:p>
          <a:p>
            <a:r>
              <a:rPr sz="1800">
                <a:solidFill>
                  <a:srgbClr val="32373E"/>
                </a:solidFill>
              </a:rPr>
              <a:t>Calibo AI Academy • Phase 1 — Mini Use Case 01</a:t>
            </a:r>
          </a:p>
          <a:p>
            <a:r>
              <a:rPr sz="1600" b="1">
                <a:solidFill>
                  <a:srgbClr val="1565C0"/>
                </a:solidFill>
              </a:rPr>
              <a:t>Team: Varshitha • Chandu • Lohitha • Varshini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Retail / E-commerce • Six months of transaction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73E"/>
                </a:solidFill>
              </a:defRPr>
            </a:pPr>
            <a:r>
              <a:t>A regional retail chain operates stores across Andhra Pradesh.</a:t>
            </a:r>
          </a:p>
          <a:p>
            <a:pPr>
              <a:spcAft>
                <a:spcPts val="1200"/>
              </a:spcAft>
              <a:defRPr sz="2000">
                <a:solidFill>
                  <a:srgbClr val="32373E"/>
                </a:solidFill>
              </a:defRPr>
            </a:pPr>
            <a:r>
              <a:t>Sales are grouped into five categories: Electronics, Apparel, Grocery, Home &amp; Kitchen, and Personal Care.</a:t>
            </a:r>
          </a:p>
          <a:p>
            <a:pPr>
              <a:spcAft>
                <a:spcPts val="1200"/>
              </a:spcAft>
              <a:defRPr sz="2000">
                <a:solidFill>
                  <a:srgbClr val="32373E"/>
                </a:solidFill>
              </a:defRPr>
            </a:pPr>
            <a:r>
              <a:t>The Category Manager is preparing for a quarterly supplier review.</a:t>
            </a:r>
          </a:p>
          <a:p>
            <a:pPr>
              <a:spcAft>
                <a:spcPts val="1200"/>
              </a:spcAft>
              <a:defRPr sz="2000">
                <a:solidFill>
                  <a:srgbClr val="32373E"/>
                </a:solidFill>
              </a:defRPr>
            </a:pPr>
            <a:r>
              <a:t>The analysis turns transaction data into category, product, discount, and timing insights for that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Business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What should the Category Manager prioritize in the supplier review?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91440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Which categories are growing or declining?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212080" cy="91440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Which products drive or drag performance?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212080" cy="91440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Are discounts increasing transaction value?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43200"/>
            <a:ext cx="5212080" cy="91440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When are sales naturally strongest?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73E"/>
                </a:solidFill>
              </a:defRPr>
            </a:pPr>
            <a:r>
              <a:t>Goal: finish with a concise, data-backed Category Manager Briefing.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Dataset &amp;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Initial inspection before business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86868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17324D"/>
                </a:solidFill>
              </a:rPr>
              <a:t>107,836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468880" cy="86868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17324D"/>
                </a:solidFill>
              </a:rPr>
              <a:t>10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468880" cy="86868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17324D"/>
                </a:solidFill>
              </a:rPr>
              <a:t>25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468880" cy="86868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17324D"/>
                </a:solidFill>
              </a:rPr>
              <a:t>5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Date range: 1 January 2026 to 30 June 2026.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No missing values were found.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No duplicate rows were found.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The date field was converted to datetime for monthly and weekday analysis.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The dataset contains revenue, units sold, price, and discount percentage — but no product cost or margin.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Analysis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The six-step flow used in the final 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05156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01  Load &amp; Inspect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417320"/>
            <a:ext cx="3246120" cy="105156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02  Revenue Trend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3246120" cy="105156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03  Top / Bottom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3246120" cy="105156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04  Discount Effectiveness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337560"/>
            <a:ext cx="3246120" cy="105156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05  Day / Month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337560"/>
            <a:ext cx="3246120" cy="105156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06  Category Manager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73E"/>
                </a:solidFill>
              </a:defRPr>
            </a:pPr>
            <a:r>
              <a:t>Each analysis is followed by a short business interpretation, not just a chart or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Revenue Trend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January → June 2026</a:t>
            </a:r>
          </a:p>
        </p:txBody>
      </p:sp>
      <p:pic>
        <p:nvPicPr>
          <p:cNvPr id="6" name="Picture 5" descr="categor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589520" cy="4044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4630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Electronics: -35.0%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Apparel: +34.1%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Grocery: -3.5%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Home &amp; Kitchen: -18.5%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Personal Care: +2.2%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800600"/>
            <a:ext cx="3200400" cy="82296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00" b="1">
                <a:solidFill>
                  <a:srgbClr val="17324D"/>
                </a:solidFill>
              </a:rPr>
              <a:t>Strongest growth: Apparel (+34.1%)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Category Performance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Total revenue across the six-month period</a:t>
            </a:r>
          </a:p>
        </p:txBody>
      </p:sp>
      <p:pic>
        <p:nvPicPr>
          <p:cNvPr id="6" name="Picture 5" descr="category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223760" cy="3957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4173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Electronics generated ₹226,527,725 — the largest category.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Electronics also fell 35.0% from January to June.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Grocery is the most consistent category (CV ≈ 0.039).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Apparel grew 34.1% and is the only category with sustained growth across the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Top &amp; Bottom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Product-level revenue ranking within each category</a:t>
            </a:r>
          </a:p>
        </p:txBody>
      </p:sp>
      <p:pic>
        <p:nvPicPr>
          <p:cNvPr id="6" name="Picture 5" descr="top_bottom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772400" cy="5392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417320"/>
            <a:ext cx="3154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Revenue is fairly evenly spread across the five products within each category.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The weakest products chain-wide are concentrated in Personal Care and Grocery.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The product-level view does not show one isolated SKU causing the Electronics decline.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Product-Level Business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What the product analysis adds to the category trend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00584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000" b="1">
                <a:solidFill>
                  <a:srgbClr val="17324D"/>
                </a:solidFill>
              </a:rPr>
              <a:t>Electronics decline is broad-based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20640" cy="100584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17324D"/>
                </a:solidFill>
              </a:rPr>
              <a:t>Electronics 6-month revenue: ₹226,527,725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73E"/>
                </a:solidFill>
              </a:defRPr>
            </a:pPr>
            <a:r>
              <a:t>The top/bottom product analysis shows that weakness is not confined to one single Electronics product.</a:t>
            </a:r>
          </a:p>
          <a:p>
            <a:pPr>
              <a:spcAft>
                <a:spcPts val="1200"/>
              </a:spcAft>
              <a:defRPr sz="1600">
                <a:solidFill>
                  <a:srgbClr val="32373E"/>
                </a:solidFill>
              </a:defRPr>
            </a:pPr>
            <a:r>
              <a:t>That shifts the supplier-review conversation from only fixing one SKU to understanding category-level demand and assortment performance.</a:t>
            </a:r>
          </a:p>
          <a:p>
            <a:pPr>
              <a:spcAft>
                <a:spcPts val="1200"/>
              </a:spcAft>
              <a:defRPr sz="1600">
                <a:solidFill>
                  <a:srgbClr val="32373E"/>
                </a:solidFill>
              </a:defRPr>
            </a:pPr>
            <a:r>
              <a:t>The lowest-revenue products overall include Sunscreen (₹7.59M), Toothpaste (₹7.77M), Sugar (₹8.38M), and Oil (₹8.43M).</a:t>
            </a:r>
          </a:p>
          <a:p>
            <a:pPr>
              <a:spcAft>
                <a:spcPts val="1200"/>
              </a:spcAft>
              <a:defRPr sz="1600">
                <a:solidFill>
                  <a:srgbClr val="32373E"/>
                </a:solidFill>
              </a:defRPr>
            </a:pPr>
            <a:r>
              <a:t>These figures describe revenue performance; they do not measure supplier margin or profitability.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Discount Effectiveness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Average revenue per transaction falls as observed discount depth increases</a:t>
            </a:r>
          </a:p>
        </p:txBody>
      </p:sp>
      <p:pic>
        <p:nvPicPr>
          <p:cNvPr id="6" name="Picture 5" descr="discount_effec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406640" cy="40572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200400" cy="82296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500" b="1">
                <a:solidFill>
                  <a:srgbClr val="17324D"/>
                </a:solidFill>
              </a:rPr>
              <a:t>0% discount: ₹4,686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606040"/>
            <a:ext cx="3200400" cy="82296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500" b="1">
                <a:solidFill>
                  <a:srgbClr val="17324D"/>
                </a:solidFill>
              </a:rPr>
              <a:t>20% discount: ₹3,632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703320"/>
            <a:ext cx="3200400" cy="82296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7324D"/>
                </a:solidFill>
              </a:rPr>
              <a:t>Difference: −22.5%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2373E"/>
                </a:solidFill>
              </a:defRPr>
            </a:pPr>
            <a:r>
              <a:t>Average units sold remain nearly flat: 2.57–2.60 per transaction.</a:t>
            </a:r>
          </a:p>
          <a:p>
            <a:pPr>
              <a:spcAft>
                <a:spcPts val="1200"/>
              </a:spcAft>
              <a:defRPr sz="1300">
                <a:solidFill>
                  <a:srgbClr val="32373E"/>
                </a:solidFill>
              </a:defRPr>
            </a:pPr>
            <a:r>
              <a:t>25%+ has no observations in the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Discount Analysis — Numbers Behind the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Observed discount levels in the dataset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324D"/>
                          </a:solidFill>
                        </a:defRPr>
                      </a:pPr>
                      <a:r>
                        <a:t>Discount</a:t>
                      </a:r>
                    </a:p>
                  </a:txBody>
                  <a:tcPr>
                    <a:solidFill>
                      <a:srgbClr val="FCEA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324D"/>
                          </a:solidFill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FCEA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324D"/>
                          </a:solidFill>
                        </a:defRPr>
                      </a:pPr>
                      <a:r>
                        <a:t>Avg Revenue / Txn</a:t>
                      </a:r>
                    </a:p>
                  </a:txBody>
                  <a:tcPr>
                    <a:solidFill>
                      <a:srgbClr val="FCEA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324D"/>
                          </a:solidFill>
                        </a:defRPr>
                      </a:pPr>
                      <a:r>
                        <a:t>Avg Units / Txn</a:t>
                      </a:r>
                    </a:p>
                  </a:txBody>
                  <a:tcPr>
                    <a:solidFill>
                      <a:srgbClr val="FCEA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36,033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₹4,685.65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2.59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23,922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₹4,303.73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23,810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₹4,005.55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2.57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11,935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₹4,069.16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12,136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₹3,631.73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2373E"/>
                          </a:solidFill>
                        </a:defRPr>
                      </a:pPr>
                      <a:r>
                        <a:t>2.58</a:t>
                      </a:r>
                    </a:p>
                  </a:txBody>
                  <a:tcPr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554480" y="5715000"/>
            <a:ext cx="9144000" cy="50292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17324D"/>
                </a:solidFill>
              </a:rPr>
              <a:t>Interpretation: deeper discounts are not accompanied by a matching increase in units sold.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Day-of-Week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Average revenue per transaction</a:t>
            </a:r>
          </a:p>
        </p:txBody>
      </p:sp>
      <p:pic>
        <p:nvPicPr>
          <p:cNvPr id="6" name="Picture 5" descr="day_of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06640" cy="40572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54480"/>
            <a:ext cx="3200400" cy="86868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500" b="1">
                <a:solidFill>
                  <a:srgbClr val="17324D"/>
                </a:solidFill>
              </a:rPr>
              <a:t>Strongest: Saturday — ₹4,420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743200"/>
            <a:ext cx="3200400" cy="868680"/>
          </a:xfrm>
          <a:prstGeom prst="roundRect">
            <a:avLst/>
          </a:prstGeom>
          <a:solidFill>
            <a:srgbClr val="EAF2FB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500" b="1">
                <a:solidFill>
                  <a:srgbClr val="17324D"/>
                </a:solidFill>
              </a:rPr>
              <a:t>Weakest: Tuesday — ₹4,018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0690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73E"/>
                </a:solidFill>
              </a:defRPr>
            </a:pPr>
            <a:r>
              <a:t>The observed pattern supports considering weekend-focused promotional timing rather than relying on mid-week 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Monthly Pattern &amp; Electronics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Chain-wide revenue falls while Electronics loses share</a:t>
            </a:r>
          </a:p>
        </p:txBody>
      </p:sp>
      <p:pic>
        <p:nvPicPr>
          <p:cNvPr id="6" name="Picture 5" descr="monthly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3856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4173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Best month: January — ₹84,768,131.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Worst month: June — ₹69,282,134.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Electronics share falls from 53.9% in January to 42.8% in June.</a:t>
            </a:r>
          </a:p>
          <a:p>
            <a:pPr>
              <a:spcAft>
                <a:spcPts val="1200"/>
              </a:spcAft>
              <a:defRPr sz="1500">
                <a:solidFill>
                  <a:srgbClr val="32373E"/>
                </a:solidFill>
              </a:defRPr>
            </a:pPr>
            <a:r>
              <a:t>This indicates Electronics is losing ground relative to the rest of the chain, not simply following the overall monthly slowdown.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</a:rPr>
              <a:t>Category Manager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46E"/>
                </a:solidFill>
              </a:rPr>
              <a:t>Final business takeaways from Steps 2–5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Apparel shows the strongest growth signal, rising 34.1% from January to June.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Electronics should receive focused supplier attention: it is the largest category at ₹226,527,725, yet revenue fell 35.0%.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At 20% discount, average revenue per transaction is ₹3,632 versus ₹4,686 at 0%, while units sold stay almost flat.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Saturday is the strongest day and Tuesday the weakest; January is the strongest month and June the weakest.</a:t>
            </a:r>
          </a:p>
          <a:p>
            <a:pPr>
              <a:spcAft>
                <a:spcPts val="1200"/>
              </a:spcAft>
              <a:defRPr sz="1700">
                <a:solidFill>
                  <a:srgbClr val="32373E"/>
                </a:solidFill>
              </a:defRPr>
            </a:pPr>
            <a:r>
              <a:t>Before a final profitability or ROI decision, product cost / margin data is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FCEAF2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00" b="1">
                <a:solidFill>
                  <a:srgbClr val="17324D"/>
                </a:solidFill>
              </a:rPr>
              <a:t>Key message: use the revenue evidence to guide the supplier conversation, then validate profitability with cost/margin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791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